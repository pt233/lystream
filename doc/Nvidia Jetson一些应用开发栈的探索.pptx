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57" r:id="rId5"/>
    <p:sldId id="264" r:id="rId6"/>
    <p:sldId id="265" r:id="rId7"/>
    <p:sldId id="266" r:id="rId8"/>
    <p:sldId id="267" r:id="rId9"/>
    <p:sldId id="268" r:id="rId10"/>
    <p:sldId id="270" r:id="rId11"/>
    <p:sldId id="269" r:id="rId12"/>
    <p:sldId id="271" r:id="rId13"/>
    <p:sldId id="261" r:id="rId14"/>
    <p:sldId id="262" r:id="rId15"/>
    <p:sldId id="273" r:id="rId16"/>
    <p:sldId id="274" r:id="rId17"/>
    <p:sldId id="275" r:id="rId18"/>
    <p:sldId id="276" r:id="rId19"/>
    <p:sldId id="26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/>
    <p:restoredTop sz="94640"/>
  </p:normalViewPr>
  <p:slideViewPr>
    <p:cSldViewPr snapToGrid="0" snapToObjects="1">
      <p:cViewPr varScale="1">
        <p:scale>
          <a:sx n="150" d="100"/>
          <a:sy n="150" d="100"/>
        </p:scale>
        <p:origin x="45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07930-C4EA-9D44-8857-D4134481BCE5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F9DEE-F26D-014A-BB9A-432A77E5F3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封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0"/>
            <a:ext cx="12190095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3235" y="2032638"/>
            <a:ext cx="8602035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Nvidia Jetson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一些应用开发栈的探索</a:t>
            </a:r>
            <a:endParaRPr lang="en-US" altLang="zh-CN" sz="4000" dirty="0"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48512" y="2384707"/>
            <a:ext cx="2343161" cy="826913"/>
            <a:chOff x="5354323" y="1967781"/>
            <a:chExt cx="2084387" cy="872452"/>
          </a:xfrm>
        </p:grpSpPr>
        <p:sp>
          <p:nvSpPr>
            <p:cNvPr id="3" name="矩形 2"/>
            <p:cNvSpPr/>
            <p:nvPr/>
          </p:nvSpPr>
          <p:spPr>
            <a:xfrm>
              <a:off x="5354323" y="2332307"/>
              <a:ext cx="1835544" cy="5079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There are moments in life when you miss someone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354323" y="1967781"/>
              <a:ext cx="2084387" cy="40175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70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 </a:t>
              </a:r>
              <a:r>
                <a:rPr lang="zh-CN" altLang="en-US" sz="170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公司介绍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51777" y="3521076"/>
            <a:ext cx="2343161" cy="826913"/>
            <a:chOff x="5354323" y="1967781"/>
            <a:chExt cx="2084387" cy="872452"/>
          </a:xfrm>
        </p:grpSpPr>
        <p:sp>
          <p:nvSpPr>
            <p:cNvPr id="6" name="矩形 5"/>
            <p:cNvSpPr/>
            <p:nvPr/>
          </p:nvSpPr>
          <p:spPr>
            <a:xfrm>
              <a:off x="5354323" y="2332307"/>
              <a:ext cx="1835544" cy="5079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There are moments in life when you miss someone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354323" y="1967781"/>
              <a:ext cx="2084387" cy="42878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70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 </a:t>
              </a:r>
              <a:r>
                <a:rPr lang="zh-CN" altLang="en-US" sz="170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成功项目展示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448123" y="2384707"/>
            <a:ext cx="2343161" cy="826913"/>
            <a:chOff x="5354323" y="1967781"/>
            <a:chExt cx="2084387" cy="872452"/>
          </a:xfrm>
        </p:grpSpPr>
        <p:sp>
          <p:nvSpPr>
            <p:cNvPr id="9" name="矩形 8"/>
            <p:cNvSpPr/>
            <p:nvPr/>
          </p:nvSpPr>
          <p:spPr>
            <a:xfrm>
              <a:off x="5354323" y="2332307"/>
              <a:ext cx="1835544" cy="5079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There are moments in life when you miss someone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354323" y="1967781"/>
              <a:ext cx="2084387" cy="40175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70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 </a:t>
              </a:r>
              <a:r>
                <a:rPr lang="zh-CN" altLang="en-US" sz="170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专利介绍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451388" y="3521076"/>
            <a:ext cx="2343161" cy="826913"/>
            <a:chOff x="5354323" y="1967781"/>
            <a:chExt cx="2084387" cy="872452"/>
          </a:xfrm>
        </p:grpSpPr>
        <p:sp>
          <p:nvSpPr>
            <p:cNvPr id="12" name="矩形 11"/>
            <p:cNvSpPr/>
            <p:nvPr/>
          </p:nvSpPr>
          <p:spPr>
            <a:xfrm>
              <a:off x="5354323" y="2332307"/>
              <a:ext cx="1835544" cy="5079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5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There are moments in life when you miss someone</a:t>
              </a:r>
              <a:endPara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354323" y="1967781"/>
              <a:ext cx="2084387" cy="40144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70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06 </a:t>
              </a:r>
              <a:r>
                <a:rPr lang="zh-CN" altLang="en-US" sz="170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服务计划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39468" y="942829"/>
            <a:ext cx="3334568" cy="923331"/>
            <a:chOff x="3740240" y="1033243"/>
            <a:chExt cx="2500927" cy="692498"/>
          </a:xfrm>
        </p:grpSpPr>
        <p:sp>
          <p:nvSpPr>
            <p:cNvPr id="15" name="TextBox 7"/>
            <p:cNvSpPr txBox="1"/>
            <p:nvPr/>
          </p:nvSpPr>
          <p:spPr>
            <a:xfrm>
              <a:off x="4891017" y="1187210"/>
              <a:ext cx="1350150" cy="384563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rm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</a:p>
          </p:txBody>
        </p:sp>
        <p:sp>
          <p:nvSpPr>
            <p:cNvPr id="16" name="Rectangle 9"/>
            <p:cNvSpPr/>
            <p:nvPr/>
          </p:nvSpPr>
          <p:spPr>
            <a:xfrm>
              <a:off x="3740240" y="1033243"/>
              <a:ext cx="1350150" cy="692498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/>
              <a:r>
                <a:rPr lang="zh-CN" altLang="en-US" sz="4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录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399603" y="2384707"/>
            <a:ext cx="2343161" cy="826913"/>
            <a:chOff x="5354323" y="1967781"/>
            <a:chExt cx="2084387" cy="872452"/>
          </a:xfrm>
        </p:grpSpPr>
        <p:sp>
          <p:nvSpPr>
            <p:cNvPr id="18" name="矩形 17"/>
            <p:cNvSpPr/>
            <p:nvPr/>
          </p:nvSpPr>
          <p:spPr>
            <a:xfrm>
              <a:off x="5354323" y="2332307"/>
              <a:ext cx="1835544" cy="5079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There are moments in life when you miss someone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354323" y="1967781"/>
              <a:ext cx="2084387" cy="40144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70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 </a:t>
              </a:r>
              <a:r>
                <a:rPr lang="en-US" altLang="zh-CN" sz="17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17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获得奖项</a:t>
              </a:r>
              <a:endParaRPr lang="zh-CN" altLang="en-US" sz="170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sp>
        <p:nvSpPr>
          <p:cNvPr id="20" name="TextBox 11"/>
          <p:cNvSpPr txBox="1"/>
          <p:nvPr/>
        </p:nvSpPr>
        <p:spPr>
          <a:xfrm>
            <a:off x="2906671" y="3460137"/>
            <a:ext cx="6633520" cy="540606"/>
          </a:xfrm>
          <a:prstGeom prst="rect">
            <a:avLst/>
          </a:prstGeom>
          <a:noFill/>
        </p:spPr>
        <p:txBody>
          <a:bodyPr vert="horz" wrap="square" lIns="86564" tIns="43280" rIns="86564" bIns="4328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45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mer</a:t>
            </a:r>
            <a:r>
              <a:rPr lang="en-US" altLang="zh-CN" sz="104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a lot of things began to trivial for example, I hide in behind the morning in a hurry to eat text, breathed life back to the story, then through these years of ladder to update a</a:t>
            </a:r>
            <a:endParaRPr lang="zh-CN" altLang="en-US" sz="104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33264" y="2654206"/>
            <a:ext cx="7047678" cy="546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4" tIns="43280" rIns="86564" bIns="43280"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01/ AI</a:t>
            </a:r>
            <a:r>
              <a:rPr lang="zh-CN" altLang="en-US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芯片和</a:t>
            </a:r>
            <a:r>
              <a:rPr lang="en-US" altLang="zh-CN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SOC</a:t>
            </a:r>
            <a:endParaRPr lang="zh-CN" altLang="en-US" sz="40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AI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芯片之一</a:t>
            </a:r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CPU</a:t>
            </a:r>
            <a:endParaRPr lang="en-US" altLang="zh-CN" sz="2800" dirty="0">
              <a:solidFill>
                <a:srgbClr val="0154A4"/>
              </a:solidFill>
              <a:latin typeface="+mn-ea"/>
            </a:endParaRPr>
          </a:p>
          <a:p>
            <a:pPr algn="l"/>
            <a:endParaRPr lang="zh-CN" altLang="en-US" sz="2800" dirty="0">
              <a:solidFill>
                <a:srgbClr val="0154A4"/>
              </a:solidFill>
              <a:latin typeface="+mj-ea"/>
              <a:ea typeface="+mj-ea"/>
            </a:endParaRP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9432081" cy="2120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中央处理器作为计算机系统的运算和控制核心，是信息处理、程序运行的最终执行单元，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 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是对计算机的所有硬件资源（如存储器、输入输出单元） 进行控制调配、执行通用运算的核心硬件单元。</a:t>
            </a: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优点：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有大量的缓存和复杂的逻辑控制单元，非常擅长逻辑控制、串行的运算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缺点：不擅长复杂算法运算和处理并行重复的操作。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生产厂商：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intel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AMD</a:t>
            </a: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F22F4F-D8B0-D073-C88D-D26196325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785" y="3222787"/>
            <a:ext cx="5672830" cy="282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AI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芯片之一</a:t>
            </a:r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GPU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326340" cy="1827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图形处理器，是一种专门做图像和图形相关运算工作的微处理器。</a:t>
            </a: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优点：提供了多核并行计算的基础结构，且核心数非常多，可以支撑大量数据的并行计算，拥有更高的浮点运算能力。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缺点：管理控制能力（最弱），功耗（最高）。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生产厂商：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NVIDIA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AMD</a:t>
            </a: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3909FB3-8307-E18C-6905-5384FCEC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049" y="3493157"/>
            <a:ext cx="2371725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57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AI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芯片之一</a:t>
            </a:r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FPGA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9355545" cy="3586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FPGA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是在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PAL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GAL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等可编程器件的基础上进一步发展的产物。它是作为专用集成电路（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ASIC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）领域中的一种半定制电路而出现的，既解决了定制电路的不足，又克服了原有可编程器件门电路数有限的缺点。 </a:t>
            </a: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优点：可以无限次编程，延时性比较低，同时拥有流水线并行和数据并行（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只有数据并行）、实时性最强、灵活性最高</a:t>
            </a: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缺点：开发难度大、只适合定点运算、价格比较昂贵</a:t>
            </a: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生产厂商：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Altera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（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Intel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收购）、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Xilinx</a:t>
            </a: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349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AI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芯片之一</a:t>
            </a:r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ASIC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10721103" cy="3000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ASIC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，即专用集成电路，指应特定用户要求和特定电子系统的需要而设计、制造的集成电路。目前用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CPLD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（复杂可编程逻辑器件）和 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FPGA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（现场可编程逻辑阵列）来进行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ASIC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设计是最为流行的方式之一。</a:t>
            </a: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优点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: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它作为集成电路技术与特定用户的整机或系统技术紧密结合的产物，与通用集成电路相比具有体积更小、重量更轻、 功耗更低、可靠性提高、性能提高、保密性增强、成本降低等优点。</a:t>
            </a: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缺点：灵活性不够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主要性能指标：功耗、速度、成本</a:t>
            </a: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生产厂商：谷歌、地平线、寒武纪等</a:t>
            </a:r>
          </a:p>
        </p:txBody>
      </p:sp>
    </p:spTree>
    <p:extLst>
      <p:ext uri="{BB962C8B-B14F-4D97-AF65-F5344CB8AC3E}">
        <p14:creationId xmlns:p14="http://schemas.microsoft.com/office/powerpoint/2010/main" val="58904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algn="l"/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Jetson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系列</a:t>
            </a:r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SOC</a:t>
            </a:r>
            <a:endParaRPr lang="zh-CN" altLang="en-US" sz="2800" dirty="0">
              <a:solidFill>
                <a:srgbClr val="0154A4"/>
              </a:solidFill>
              <a:latin typeface="+mj-ea"/>
              <a:ea typeface="+mj-ea"/>
            </a:endParaRP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064508" cy="2707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以上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4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种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芯片有自身的优缺点，应用和算法可以全部跑在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上，也可以跑在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CPU+GPU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上，但在目前主流的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应用好像都不满足于这些算力上。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AI SOC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目前主流有三种架构：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 + GPU + ASIC</a:t>
            </a: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 + ASIC</a:t>
            </a: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 + FPGA</a:t>
            </a: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Jetson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系列的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SOC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属于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 + GPU + 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多种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ASIC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架构。</a:t>
            </a:r>
          </a:p>
        </p:txBody>
      </p:sp>
    </p:spTree>
    <p:extLst>
      <p:ext uri="{BB962C8B-B14F-4D97-AF65-F5344CB8AC3E}">
        <p14:creationId xmlns:p14="http://schemas.microsoft.com/office/powerpoint/2010/main" val="367774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>
                <a:solidFill>
                  <a:srgbClr val="0154A4"/>
                </a:solidFill>
                <a:latin typeface="+mj-ea"/>
                <a:ea typeface="+mj-ea"/>
              </a:rPr>
              <a:t>Jetson</a:t>
            </a:r>
            <a:r>
              <a:rPr lang="zh-CN" altLang="en-US" sz="2800">
                <a:solidFill>
                  <a:srgbClr val="0154A4"/>
                </a:solidFill>
                <a:latin typeface="+mj-ea"/>
                <a:ea typeface="+mj-ea"/>
              </a:rPr>
              <a:t>系列</a:t>
            </a:r>
            <a:r>
              <a:rPr lang="en-US" altLang="zh-CN" sz="2800">
                <a:solidFill>
                  <a:srgbClr val="0154A4"/>
                </a:solidFill>
                <a:latin typeface="+mj-ea"/>
                <a:ea typeface="+mj-ea"/>
              </a:rPr>
              <a:t>SOC</a:t>
            </a:r>
            <a:endParaRPr lang="en-US" altLang="zh-CN" sz="2800" dirty="0">
              <a:solidFill>
                <a:srgbClr val="0154A4"/>
              </a:solidFill>
              <a:latin typeface="+mj-ea"/>
              <a:ea typeface="+mj-ea"/>
            </a:endParaRP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9726139" cy="329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Jetson Xavier NX ASIC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芯片列表：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个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DLA(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深度学习加速器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，卷积神经网络进行全硬件加速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个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PVA(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可编程视觉加速器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，专门用于图像处理和计算机视觉算法。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VIC(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，固定功能处理器，专门用于低级图像处理任务，例如重新缩放、色彩空间转换、降噪和合成。视频图像合成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个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NVENC(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视频编码器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)</a:t>
            </a: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个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NVDEC(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视频解码器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)</a:t>
            </a: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NVJPG(JPEG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编解码器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)</a:t>
            </a: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APE(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音频编解码器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)</a:t>
            </a: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ASIC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芯片也常被称为“引擎”。</a:t>
            </a:r>
          </a:p>
        </p:txBody>
      </p:sp>
    </p:spTree>
    <p:extLst>
      <p:ext uri="{BB962C8B-B14F-4D97-AF65-F5344CB8AC3E}">
        <p14:creationId xmlns:p14="http://schemas.microsoft.com/office/powerpoint/2010/main" val="390529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sp>
        <p:nvSpPr>
          <p:cNvPr id="20" name="TextBox 11"/>
          <p:cNvSpPr txBox="1"/>
          <p:nvPr/>
        </p:nvSpPr>
        <p:spPr>
          <a:xfrm>
            <a:off x="2906671" y="3460137"/>
            <a:ext cx="6633520" cy="540606"/>
          </a:xfrm>
          <a:prstGeom prst="rect">
            <a:avLst/>
          </a:prstGeom>
          <a:noFill/>
        </p:spPr>
        <p:txBody>
          <a:bodyPr vert="horz" wrap="square" lIns="86564" tIns="43280" rIns="86564" bIns="4328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45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mer</a:t>
            </a:r>
            <a:r>
              <a:rPr lang="en-US" altLang="zh-CN" sz="104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a lot of things began to trivial for example, I hide in behind the morning in a hurry to eat text, breathed life back to the story, then through these years of ladder to update a</a:t>
            </a:r>
            <a:endParaRPr lang="zh-CN" altLang="en-US" sz="104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33264" y="2654206"/>
            <a:ext cx="7047678" cy="546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4" tIns="43280" rIns="86564" bIns="43280"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02/ Jetson</a:t>
            </a:r>
            <a:r>
              <a:rPr lang="zh-CN" altLang="en-US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多媒体库</a:t>
            </a:r>
          </a:p>
        </p:txBody>
      </p:sp>
    </p:spTree>
    <p:extLst>
      <p:ext uri="{BB962C8B-B14F-4D97-AF65-F5344CB8AC3E}">
        <p14:creationId xmlns:p14="http://schemas.microsoft.com/office/powerpoint/2010/main" val="256133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algn="l"/>
            <a:r>
              <a:rPr lang="en-US" altLang="zh-CN" sz="2800" dirty="0">
                <a:solidFill>
                  <a:srgbClr val="0154A4"/>
                </a:solidFill>
                <a:latin typeface="+mj-ea"/>
                <a:ea typeface="+mj-ea"/>
              </a:rPr>
              <a:t>Jetson</a:t>
            </a:r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多媒体库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9649604" cy="3000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Jetson Linux 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平台多媒体应用开发一直以来都没有一个明确的路线，看前人的代码过程也是摸着石头过河，现在用的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Jetson Multimedia API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在使用上也晦涩难懂。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Jetson Multimedia API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是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Nvidia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多媒体应用的底层库，目前编解码库就是由此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封装而来。目前的问题有：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Jetson Multimedia API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学习和维护很困难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、此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定位是视频分析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应用底层库，目前已开发的功能只是此库的一部分，进度非常缓慢。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、此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随着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JetPack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的版本的变动也会革新，意味着一旦版本变动，已封装的库就不再适用。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有没有能解决上面的问题并且能充分使用此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SDK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的方案呢？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369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>
                <a:solidFill>
                  <a:srgbClr val="0154A4"/>
                </a:solidFill>
                <a:latin typeface="+mj-ea"/>
                <a:ea typeface="+mj-ea"/>
              </a:rPr>
              <a:t>Jetson</a:t>
            </a:r>
            <a:r>
              <a:rPr lang="zh-CN" altLang="en-US" sz="2800">
                <a:solidFill>
                  <a:srgbClr val="0154A4"/>
                </a:solidFill>
                <a:latin typeface="+mj-ea"/>
                <a:ea typeface="+mj-ea"/>
              </a:rPr>
              <a:t>多媒体库</a:t>
            </a:r>
            <a:endParaRPr lang="zh-CN" altLang="en-US" sz="2800" dirty="0">
              <a:solidFill>
                <a:srgbClr val="0154A4"/>
              </a:solidFill>
              <a:latin typeface="+mj-ea"/>
              <a:ea typeface="+mj-ea"/>
            </a:endParaRP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9198446" cy="4172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是用来构建流媒体应用的开源多媒体框架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(framework)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，其目标是要简化音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/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视频应用程序的开发，已经能够被用来处理像 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MP3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Ogg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MPEG1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MPEG2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AVI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Quicktime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等多种格式的多媒体数据。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实际上现在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已经不仅仅拥有处理多媒体了，而是广泛用于各种数据流的处理，比如当前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Nvidia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DeepStream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AI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能力的应用程序的流分析工具包就是使用开源 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框架构建的优化图形架构。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框架是基于插件来动态扩展功能。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提供了强大的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用于视频编码、解码、播放等接口，但是这些接口对于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Nvidia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调度和使用并不充分，并没有完全利用起来并行计算的相关资源。因此就有了</a:t>
            </a:r>
            <a:r>
              <a:rPr lang="en-US" altLang="zh-CN" sz="1465" b="1" dirty="0">
                <a:solidFill>
                  <a:srgbClr val="0154A4"/>
                </a:solidFill>
                <a:latin typeface="+mn-ea"/>
              </a:rPr>
              <a:t>Accelerated-</a:t>
            </a:r>
            <a:r>
              <a:rPr lang="en-US" altLang="zh-CN" sz="1465" b="1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。这个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Accelerated-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主要是实现了视频编码、解码、推流、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OSD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、缩放、混流等等的并行化操作，用较低的延迟实现极大的吞吐量。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替代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Jetson Multimedia API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的方案：使用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+ Accelerated-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455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sp>
        <p:nvSpPr>
          <p:cNvPr id="5" name="TextBox 11"/>
          <p:cNvSpPr txBox="1"/>
          <p:nvPr/>
        </p:nvSpPr>
        <p:spPr>
          <a:xfrm>
            <a:off x="2906671" y="3460137"/>
            <a:ext cx="6633520" cy="540606"/>
          </a:xfrm>
          <a:prstGeom prst="rect">
            <a:avLst/>
          </a:prstGeom>
          <a:noFill/>
        </p:spPr>
        <p:txBody>
          <a:bodyPr vert="horz" wrap="square" lIns="86564" tIns="43280" rIns="86564" bIns="4328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45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mer</a:t>
            </a:r>
            <a:r>
              <a:rPr lang="en-US" altLang="zh-CN" sz="104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a lot of things began to trivial for example, I hide in behind the morning in a hurry to eat text, breathed life back to the story, then through these years of ladder to update a</a:t>
            </a:r>
            <a:endParaRPr lang="zh-CN" altLang="en-US" sz="104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33264" y="2654206"/>
            <a:ext cx="7047678" cy="546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4" tIns="43280" rIns="86564" bIns="43280"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03/ </a:t>
            </a:r>
            <a:r>
              <a:rPr lang="en-US" altLang="zh-CN" sz="4000" dirty="0" err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DeepStream</a:t>
            </a:r>
            <a:endParaRPr lang="zh-CN" altLang="en-US" sz="40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algn="l"/>
            <a:r>
              <a:rPr lang="en-US" altLang="zh-CN" sz="2800" dirty="0" err="1">
                <a:solidFill>
                  <a:srgbClr val="0154A4"/>
                </a:solidFill>
                <a:latin typeface="+mj-ea"/>
                <a:ea typeface="+mj-ea"/>
              </a:rPr>
              <a:t>DeepStream</a:t>
            </a:r>
            <a:endParaRPr lang="zh-CN" altLang="en-US" sz="2800" dirty="0">
              <a:solidFill>
                <a:srgbClr val="0154A4"/>
              </a:solidFill>
              <a:latin typeface="+mj-ea"/>
              <a:ea typeface="+mj-ea"/>
            </a:endParaRP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9601265" cy="2707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Deepstream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是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Nvidia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公司推出的一套基于开源视频流框架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的一套库。其本身由多个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.lib.so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.h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构成，其支持语言包括了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Python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和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Cpp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两种主流语言。你可以在任何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Python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或者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Cpp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编译器、开发环境中引用库的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构建属于你自己的推理流。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Deepstream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Accelerated-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插件的基础上增加了推理插件，可以实现整个视频流的并行化，通过调度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Nvidia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专属的硬件加速来实现一定延迟下的大吞吐量的视频流接受，转码，堆叠缩放、推理、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OSD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、物联网消息收发、视频编码、推流等一系列操作。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Deepstream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是用来做全套并行化加速的视频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推理流应用的。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en-US" altLang="zh-CN" sz="2800">
                <a:solidFill>
                  <a:srgbClr val="0154A4"/>
                </a:solidFill>
                <a:latin typeface="+mj-ea"/>
                <a:ea typeface="+mj-ea"/>
              </a:rPr>
              <a:t>DeepStream</a:t>
            </a:r>
            <a:endParaRPr lang="en-US" altLang="zh-CN" sz="2800" dirty="0">
              <a:solidFill>
                <a:srgbClr val="0154A4"/>
              </a:solidFill>
              <a:latin typeface="+mj-ea"/>
              <a:ea typeface="+mj-ea"/>
            </a:endParaRP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10572060" cy="3586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推理框架千千万，我们为什么要用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Deepstream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？他有什么优势？        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虽然你可以使用其他框架替换掉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Deepstream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的每一个环节，推理可以自己做部署，解码可以有其他的库，例如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ffmpeg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，显示可以用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OpenCV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等等。但是最核心最关键的问题是，你使用其他框架，无法调动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Nvidia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的所有硬件。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优势之一：调动你能想到的、想不到的底层硬件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Jetson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中，除了我们熟知的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单元，解码需要调用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NVDEC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硬件解码器，编码需要用到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NVENC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编码器，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OSD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操作和光流跟踪需要用到英伟达的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VIC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硬件，如果你的网络是比较轻量或者是网络层支持，可以直接放入英伟达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DLA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深度学习计算模块直接推理，以上所有硬件都可以帮助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和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缓解计算负担，如果不使用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Deepstream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SDK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，上面这些硬件想要全部调动起来并不容易。甚至部分硬件根本没有底层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可以调用。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优势之二：能够用较低延迟获取极高的推理性能</a:t>
            </a:r>
          </a:p>
          <a:p>
            <a:pPr algn="l"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9851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algn="l"/>
            <a:r>
              <a:rPr lang="zh-CN" altLang="en-US" sz="2800" dirty="0">
                <a:solidFill>
                  <a:srgbClr val="0154A4"/>
                </a:solidFill>
                <a:latin typeface="+mj-ea"/>
                <a:ea typeface="+mj-ea"/>
              </a:rPr>
              <a:t>添加标题内容</a:t>
            </a: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1" y="1526518"/>
            <a:ext cx="8997036" cy="38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优点之四：无脑接入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TLT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迁移学习框架，不会设计网络也能玩转 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       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Nvidia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官方为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Deepstream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等设计了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TLT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迁移学习，各种模型譬如目标识别和语义分割、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NLP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等都有官方的模型，直接用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Docker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训练以后无缝接入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Deepstream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，如果你不会深度学习，不知道啊如何设计模型，网络结构，可以直接从官网下载模型迁移训练以后直接部署。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Nvidia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官方的网络基本够用，适用于对网络要求没那么高的深度学习场景。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TLT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入门非常容易。使用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TLT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训练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模型不需要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或深度学习方面的专业知识。具有深度学习基础知识的用户可以开始使用简单的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spec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文件和预先训练的模型来构建自己的定制模型。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视频分析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AI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应用路线：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 + Accelerated-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Gstreamer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插件 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+ </a:t>
            </a:r>
            <a:r>
              <a:rPr lang="en-US" altLang="zh-CN" sz="1465" dirty="0" err="1">
                <a:solidFill>
                  <a:srgbClr val="0154A4"/>
                </a:solidFill>
                <a:latin typeface="+mn-ea"/>
              </a:rPr>
              <a:t>DeepStreamSDK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zh-CN" altLang="en-US" sz="1465" dirty="0">
              <a:solidFill>
                <a:srgbClr val="0154A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978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sp>
        <p:nvSpPr>
          <p:cNvPr id="5" name="TextBox 11"/>
          <p:cNvSpPr txBox="1"/>
          <p:nvPr/>
        </p:nvSpPr>
        <p:spPr>
          <a:xfrm>
            <a:off x="2906671" y="3460137"/>
            <a:ext cx="6633520" cy="540606"/>
          </a:xfrm>
          <a:prstGeom prst="rect">
            <a:avLst/>
          </a:prstGeom>
          <a:noFill/>
        </p:spPr>
        <p:txBody>
          <a:bodyPr vert="horz" wrap="square" lIns="86564" tIns="43280" rIns="86564" bIns="4328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45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mer</a:t>
            </a:r>
            <a:r>
              <a:rPr lang="en-US" altLang="zh-CN" sz="104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a lot of things began to trivial for example, I hide in behind the morning in a hurry to eat text, breathed life back to the story, then through these years of ladder to update a</a:t>
            </a:r>
            <a:endParaRPr lang="zh-CN" altLang="en-US" sz="104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33264" y="2654206"/>
            <a:ext cx="7047678" cy="546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4" tIns="43280" rIns="86564" bIns="43280"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04/</a:t>
            </a:r>
            <a:r>
              <a:rPr lang="zh-CN" altLang="en-US" sz="4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计算机视觉和图像算法库</a:t>
            </a:r>
          </a:p>
        </p:txBody>
      </p:sp>
    </p:spTree>
    <p:extLst>
      <p:ext uri="{BB962C8B-B14F-4D97-AF65-F5344CB8AC3E}">
        <p14:creationId xmlns:p14="http://schemas.microsoft.com/office/powerpoint/2010/main" val="576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1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9353" y="973083"/>
            <a:ext cx="52283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r>
              <a:rPr lang="zh-CN" altLang="en-US" sz="2800">
                <a:solidFill>
                  <a:srgbClr val="0154A4"/>
                </a:solidFill>
                <a:latin typeface="+mj-ea"/>
                <a:ea typeface="+mj-ea"/>
              </a:rPr>
              <a:t>计算机视觉和图像算法库</a:t>
            </a:r>
            <a:endParaRPr lang="zh-CN" altLang="en-US" sz="2800" dirty="0">
              <a:solidFill>
                <a:srgbClr val="0154A4"/>
              </a:solidFill>
              <a:latin typeface="+mj-ea"/>
              <a:ea typeface="+mj-ea"/>
            </a:endParaRPr>
          </a:p>
        </p:txBody>
      </p:sp>
      <p:sp>
        <p:nvSpPr>
          <p:cNvPr id="5" name="01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0910" y="1526518"/>
            <a:ext cx="8968839" cy="38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VPI(Vision Programming Interface)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是英伟达高性能计算机视觉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/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图像处理算法库。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VPI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为各种不同的硬件提供统一的接口，可在计算引擎上实现图像算法，包括 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CPU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GPU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、可编程视觉加速器（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PVA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）、视频和图像合成器（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VIC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） 以及光流加速器（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OFA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），可与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OpenCV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接口兼容。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支持的图像处理：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高斯金字塔生成器、拉普拉斯金字塔生成器、可分离和直接图像卷积、框图像过滤器、高斯图像滤波器、双边图像过滤器、图像重新缩放、图像翻转、图像视图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/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裁剪、图像重映射、图像直方图、图像直方图均衡、侵蚀和扩张、最小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/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最大位置、正向和逆快速傅里叶变换、图像格式转换器、透视变形、背景减法、镜头畸变校正、时域降噪、金字塔</a:t>
            </a: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LK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光流、密集光流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支持的特征提取和跟踪：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465" dirty="0">
                <a:solidFill>
                  <a:srgbClr val="0154A4"/>
                </a:solidFill>
                <a:latin typeface="+mn-ea"/>
              </a:rPr>
              <a:t>KLT</a:t>
            </a:r>
            <a:r>
              <a:rPr lang="zh-CN" altLang="en-US" sz="1465" dirty="0">
                <a:solidFill>
                  <a:srgbClr val="0154A4"/>
                </a:solidFill>
                <a:latin typeface="+mn-ea"/>
              </a:rPr>
              <a:t>包围框跟踪器、哈里斯角检测器、颜色名称特征检测器、定向梯度的直方图</a:t>
            </a:r>
            <a:endParaRPr lang="en-US" altLang="zh-CN" sz="1465" dirty="0">
              <a:solidFill>
                <a:srgbClr val="0154A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8046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" y="0"/>
            <a:ext cx="12190991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56389" b="37509"/>
          <a:stretch>
            <a:fillRect/>
          </a:stretch>
        </p:blipFill>
        <p:spPr>
          <a:xfrm>
            <a:off x="1270" y="3518535"/>
            <a:ext cx="12190730" cy="4184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00725" y="3518535"/>
            <a:ext cx="2697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安全｜科技｜便捷｜高效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800725" y="3518535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同心同行</a:t>
            </a:r>
            <a:r>
              <a:rPr lang="en-US" altLang="zh-CN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bg1"/>
                </a:solidFill>
              </a:rPr>
              <a:t>共创共享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1911</Words>
  <Application>Microsoft Office PowerPoint</Application>
  <PresentationFormat>宽屏</PresentationFormat>
  <Paragraphs>127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等线 Light</vt:lpstr>
      <vt:lpstr>微软雅黑</vt:lpstr>
      <vt:lpstr>幼圆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姚建伟</cp:lastModifiedBy>
  <cp:revision>76</cp:revision>
  <dcterms:created xsi:type="dcterms:W3CDTF">2023-05-05T02:42:15Z</dcterms:created>
  <dcterms:modified xsi:type="dcterms:W3CDTF">2025-12-15T01:30:17Z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F1D21D52F592B9DC076D54648196AE83_43</vt:lpwstr>
  </property>
  <property fmtid="{D5CDD505-2E9C-101B-9397-08002B2CF9AE}" pid="3" name="KSOProductBuildVer">
    <vt:lpwstr>2052-5.4.0.7913</vt:lpwstr>
  </property>
</Properties>
</file>