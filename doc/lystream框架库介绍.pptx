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Override1.xml" ContentType="application/vnd.openxmlformats-officedocument.themeOverr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Override2.xml" ContentType="application/vnd.openxmlformats-officedocument.themeOverr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57" r:id="rId5"/>
    <p:sldId id="264" r:id="rId6"/>
    <p:sldId id="261" r:id="rId7"/>
    <p:sldId id="262" r:id="rId8"/>
    <p:sldId id="267" r:id="rId9"/>
    <p:sldId id="268" r:id="rId10"/>
    <p:sldId id="269" r:id="rId11"/>
    <p:sldId id="271" r:id="rId12"/>
    <p:sldId id="270" r:id="rId13"/>
    <p:sldId id="272" r:id="rId14"/>
    <p:sldId id="274" r:id="rId15"/>
    <p:sldId id="273" r:id="rId16"/>
    <p:sldId id="276" r:id="rId17"/>
    <p:sldId id="294" r:id="rId18"/>
    <p:sldId id="295" r:id="rId19"/>
    <p:sldId id="278" r:id="rId20"/>
    <p:sldId id="281" r:id="rId21"/>
    <p:sldId id="296" r:id="rId22"/>
    <p:sldId id="280" r:id="rId23"/>
    <p:sldId id="282" r:id="rId24"/>
    <p:sldId id="283" r:id="rId25"/>
    <p:sldId id="286" r:id="rId26"/>
    <p:sldId id="285" r:id="rId27"/>
    <p:sldId id="287" r:id="rId28"/>
    <p:sldId id="288" r:id="rId29"/>
    <p:sldId id="289" r:id="rId30"/>
    <p:sldId id="291" r:id="rId31"/>
    <p:sldId id="292" r:id="rId32"/>
    <p:sldId id="293" r:id="rId33"/>
    <p:sldId id="263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6441" autoAdjust="0"/>
  </p:normalViewPr>
  <p:slideViewPr>
    <p:cSldViewPr snapToGrid="0" snapToObjects="1">
      <p:cViewPr varScale="1">
        <p:scale>
          <a:sx n="153" d="100"/>
          <a:sy n="153" d="100"/>
        </p:scale>
        <p:origin x="5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07930-C4EA-9D44-8857-D4134481BCE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封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0"/>
            <a:ext cx="1219009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3720" y="3030855"/>
            <a:ext cx="1575435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2023-9-15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285" y="1938248"/>
            <a:ext cx="506630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Lystream</a:t>
            </a:r>
            <a:r>
              <a:rPr lang="zh-CN" altLang="en-US" sz="40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框架库介绍</a:t>
            </a:r>
            <a:endParaRPr lang="en-US" altLang="zh-CN" sz="40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3720" y="2661523"/>
            <a:ext cx="448712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</a:rPr>
              <a:t>Introduction to the </a:t>
            </a:r>
            <a:r>
              <a:rPr lang="en-US" altLang="zh-CN" sz="1700" dirty="0" err="1">
                <a:solidFill>
                  <a:schemeClr val="bg1"/>
                </a:solidFill>
              </a:rPr>
              <a:t>lystream</a:t>
            </a:r>
            <a:r>
              <a:rPr lang="en-US" altLang="zh-CN" sz="1700" dirty="0">
                <a:solidFill>
                  <a:schemeClr val="bg1"/>
                </a:solidFill>
              </a:rPr>
              <a:t> framework library</a:t>
            </a:r>
            <a:endParaRPr lang="zh-CN" alt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48513" y="2384707"/>
            <a:ext cx="2343161" cy="38078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设计背景</a:t>
            </a:r>
          </a:p>
        </p:txBody>
      </p:sp>
      <p:sp>
        <p:nvSpPr>
          <p:cNvPr id="7" name="矩形 6"/>
          <p:cNvSpPr/>
          <p:nvPr/>
        </p:nvSpPr>
        <p:spPr>
          <a:xfrm>
            <a:off x="651777" y="3521076"/>
            <a:ext cx="2343161" cy="38048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II</a:t>
            </a:r>
            <a:r>
              <a:rPr lang="zh-CN" altLang="en-US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类框架设计</a:t>
            </a:r>
          </a:p>
        </p:txBody>
      </p:sp>
      <p:sp>
        <p:nvSpPr>
          <p:cNvPr id="10" name="矩形 9"/>
          <p:cNvSpPr/>
          <p:nvPr/>
        </p:nvSpPr>
        <p:spPr>
          <a:xfrm>
            <a:off x="3448123" y="2384707"/>
            <a:ext cx="2343161" cy="38078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设计概述</a:t>
            </a:r>
          </a:p>
        </p:txBody>
      </p:sp>
      <p:sp>
        <p:nvSpPr>
          <p:cNvPr id="13" name="矩形 12"/>
          <p:cNvSpPr/>
          <p:nvPr/>
        </p:nvSpPr>
        <p:spPr>
          <a:xfrm>
            <a:off x="3451388" y="3521076"/>
            <a:ext cx="2343161" cy="38048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工程应用范例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39468" y="942829"/>
            <a:ext cx="3334568" cy="923331"/>
            <a:chOff x="3740240" y="1033243"/>
            <a:chExt cx="2500927" cy="692498"/>
          </a:xfrm>
        </p:grpSpPr>
        <p:sp>
          <p:nvSpPr>
            <p:cNvPr id="15" name="TextBox 7"/>
            <p:cNvSpPr txBox="1"/>
            <p:nvPr/>
          </p:nvSpPr>
          <p:spPr>
            <a:xfrm>
              <a:off x="4891017" y="1187210"/>
              <a:ext cx="1350150" cy="384563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rm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</a:p>
          </p:txBody>
        </p:sp>
        <p:sp>
          <p:nvSpPr>
            <p:cNvPr id="16" name="Rectangle 9"/>
            <p:cNvSpPr/>
            <p:nvPr/>
          </p:nvSpPr>
          <p:spPr>
            <a:xfrm>
              <a:off x="3740240" y="1033243"/>
              <a:ext cx="1350150" cy="692498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录</a:t>
              </a:r>
            </a:p>
          </p:txBody>
        </p:sp>
      </p:grpSp>
      <p:sp>
        <p:nvSpPr>
          <p:cNvPr id="19" name="矩形 18"/>
          <p:cNvSpPr/>
          <p:nvPr/>
        </p:nvSpPr>
        <p:spPr>
          <a:xfrm>
            <a:off x="6399603" y="2384707"/>
            <a:ext cx="2343161" cy="38048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en-US" altLang="zh-CN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</a:t>
            </a:r>
            <a:r>
              <a:rPr lang="zh-CN" altLang="en-US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类框架设计</a:t>
            </a:r>
            <a:endParaRPr lang="zh-CN" altLang="en-US" sz="170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01/ 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设计背景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业务功能的重复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54716"/>
            <a:ext cx="11039330" cy="417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嵌入式软件目前在维护的项目有弓网一体化（包含视频模块）、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、三轨小车、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LQ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、站台门、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5C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、嵌入式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、能量计。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这些项目除了“能量计”都具有部分或全部相同的业务功能：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342900" indent="-342900" algn="l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均是由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camera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采图，获取原始图像，也对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camera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相关参数读取或设置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342900" indent="-342900" algn="l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均有一定复杂度的图像处理，或为业务功能、或为算法、或为编码提供支持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342900" indent="-342900" algn="l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均有算法功能，可能跑在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上，也可能跑在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上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342900" indent="-342900" algn="l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所有的业务功能数据核心都是图像流，在整个程序运行链上，在各个不同的模块上流通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但具体了解下来，也有很大的不同：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、每个大项目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camera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采用的品牌，灰度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/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彩色类型，型号，甚至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camera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个数，不同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、项目所需的图像处理的算子，也不尽相同，各式各样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、算法功能不同，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有光条提取算法，弓网有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9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类不同算法等等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FF0000"/>
                </a:solidFill>
                <a:latin typeface="+mn-ea"/>
              </a:rPr>
              <a:t>我们需要将现有的不同变成相同，也需要将项目特有的部分兼容和扩展。</a:t>
            </a:r>
            <a:endParaRPr lang="en-US" altLang="zh-CN" sz="1465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功能代码上的重复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10987867" cy="300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在嵌入式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平台开发一直以来都是探索中进行，很多功能代码其实在不同人的手上已经迭代了若干了版本，但这些更新并没有同步到每个人。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软件开发上一定会发生的问题：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、软件，模块，以及框架，一定是持续更新的，这就导致很容易别人为了便捷，在其中一个版本修订仅仅与自己适配的，无形创建自己的特定版本在工程应用中，模块如此，框架亦如此。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、代码屎山会随着人员的断层而越来越多，不管是工程代码还是软件模块，没有人能够对此代码进行改善型维护，永远浮于表面，这就造成了大同小异工程应用功能，因不同的人的设计，别人理解起来极其困难。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FF0000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FF0000"/>
                </a:solidFill>
                <a:latin typeface="+mn-ea"/>
              </a:rPr>
              <a:t>我们需要一套框架应对所有的工程应用场景，并且能够联动各个功能模块。</a:t>
            </a:r>
          </a:p>
        </p:txBody>
      </p:sp>
    </p:spTree>
    <p:extLst>
      <p:ext uri="{BB962C8B-B14F-4D97-AF65-F5344CB8AC3E}">
        <p14:creationId xmlns:p14="http://schemas.microsoft.com/office/powerpoint/2010/main" val="178173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02/ 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设计概述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en-US" altLang="zh-CN" sz="2800" dirty="0" err="1">
                <a:solidFill>
                  <a:srgbClr val="0154A4"/>
                </a:solidFill>
                <a:latin typeface="+mj-ea"/>
                <a:ea typeface="+mj-ea"/>
              </a:rPr>
              <a:t>Lystream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框架概述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10986435" cy="4465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是一个支持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 Jetson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平台数据流应用框架，核心是处理插件的动态设定和数据链路高度定制，简化并统一现有业务应用开发方案。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概念架构图如下：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、整个体系中以组件作为单元进行业务数据链路的链接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、存在前端流和后端流，并且是相对存在的，顶点前端流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只有一个。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、顶点前端流没有输入端点，输出端点可以是多个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4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、前端流和后端流输入端点只能是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个，输出端点可以多个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5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、各个组件可能存在处理算子，并且，组件处理算子个数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和功能随机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6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、每个组件构建的每条数据链路随机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处理算子的有无，随机和数据流链路的随机应对了项目功能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的业务的多变。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44965AC9-29F7-8539-5CC8-9783BC7A0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465" y="2050160"/>
            <a:ext cx="5452382" cy="4411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 err="1">
                <a:solidFill>
                  <a:srgbClr val="0154A4"/>
                </a:solidFill>
                <a:latin typeface="+mj-ea"/>
                <a:ea typeface="+mj-ea"/>
              </a:rPr>
              <a:t>Lystream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框架概述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988510" cy="417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组件功能框架图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、组件单元功能化，相机流组件只拥有相机的功能支持，图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像处理组件只用于图像处理的功能支持。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、功能组件除了拥有核心框架外，还用于自身特定的处理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流程和功能适配。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、可见光相机流拥有相机参数读写机制，并且统一相机操作功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能实现，依托于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lycamera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4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、图像处理适配各种图像处理应用场景，并且支持多线程、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cuda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流，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种零拷贝加速方案，依托于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lynppi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5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、图像处理算子拥有子框架，与图像处理组件联动。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6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Jpeg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编码流组件拥有参数配置机制，并且默认开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路编码处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理，以达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Jpeg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编码性能最大，依托于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lycodec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5A181272-AE90-740D-04DD-D0688E7FE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074" y="1778705"/>
            <a:ext cx="5616347" cy="366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5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 err="1">
                <a:solidFill>
                  <a:srgbClr val="0154A4"/>
                </a:solidFill>
                <a:latin typeface="+mj-ea"/>
              </a:rPr>
              <a:t>Lystream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框架概述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1045660" cy="5638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组件功能框架图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、算法处理算子推荐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cuda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原生算子实现，算法处理流子框架默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认提供零拷贝数据内存。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、算法处理流适配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cuda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处理所有应用场景，可根据算法压力情况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支持多线程、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cuda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流以最大化利用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Video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编码流共享编码参数配置，但也可自定义编码参数，依托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于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lycodec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4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Video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处理算子是编码前的视频处理操作。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4D3237-D1B8-8EEF-14DA-8A3258500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055" y="2136247"/>
            <a:ext cx="5242833" cy="37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3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 err="1">
                <a:solidFill>
                  <a:srgbClr val="0154A4"/>
                </a:solidFill>
                <a:latin typeface="+mj-ea"/>
              </a:rPr>
              <a:t>Lystream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框架概述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10910" y="1526518"/>
            <a:ext cx="10882376" cy="5051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组件功能框架图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、在大的数据流链路上，可见光相机允许多个，作为多个数据流链路的顶层前端流，每个可将光相机独有相机参数配置。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、每个相机链路均可独立存在，互不干扰。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FB9BC7D3-51E1-FB94-9B89-FFC25A363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10" y="2458826"/>
            <a:ext cx="10616293" cy="376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69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 err="1">
                <a:solidFill>
                  <a:srgbClr val="0154A4"/>
                </a:solidFill>
                <a:latin typeface="+mj-ea"/>
              </a:rPr>
              <a:t>Lystream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框架概述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588460" cy="4465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目前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框架库已实现的功能组件：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、在整体框架上，分为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类框架描述了：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组件之间的链接关系实现，支持动态添加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数据流的处理走向控制，以及性能情况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组件间的动态控制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类框架描述了：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单个功能组件因自身功能特性而独有设计的框架，组件间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      框架不全相同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类框架应具有极强的扩展性以及实现硬件最大性能。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类框架应适配各类加速器引擎，来动态调整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SOC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算力。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BD6BF6A7-56C7-17D9-E970-DCCE69E87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10243"/>
            <a:ext cx="4657461" cy="507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4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 err="1">
                <a:solidFill>
                  <a:srgbClr val="0154A4"/>
                </a:solidFill>
                <a:latin typeface="+mj-ea"/>
              </a:rPr>
              <a:t>Lystream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框架概述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10910" y="1526518"/>
            <a:ext cx="10996675" cy="329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组件功能框架图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4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框架虽然已实现部分常用功能组件，以及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常用算子，但是实际项目也可以根据项目特殊需求来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增加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DIY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组件，或者增加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DIY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算子。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框架是一个极具扩展性和定制化的框架，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已应用于弓网一体化和嵌入式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工程应用中。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BC7637A0-28E3-4225-7E2B-31B48543E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051" y="1597682"/>
            <a:ext cx="66389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5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 err="1">
                <a:solidFill>
                  <a:srgbClr val="0154A4"/>
                </a:solidFill>
                <a:latin typeface="+mj-ea"/>
                <a:ea typeface="+mj-ea"/>
              </a:rPr>
              <a:t>Lystream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框架概述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9837346" cy="5051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--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软件依赖概述：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由上的软件依赖和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框架的关系是</a:t>
            </a:r>
            <a:r>
              <a:rPr lang="zh-CN" altLang="en-US" sz="1465" dirty="0">
                <a:solidFill>
                  <a:srgbClr val="FF0000"/>
                </a:solidFill>
                <a:latin typeface="+mn-ea"/>
              </a:rPr>
              <a:t>责任独立关系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，框架只负责功能应用和框架设计，各项具体功能指标全部由功能库提供。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A62A937F-5520-B77E-2084-BFBE38C20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621" y="1938427"/>
            <a:ext cx="6982505" cy="385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"/>
    </mc:Choice>
    <mc:Fallback xmlns="">
      <p:transition spd="slow" advTm="1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03/ I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类框架设计</a:t>
            </a:r>
          </a:p>
        </p:txBody>
      </p:sp>
    </p:spTree>
    <p:extLst>
      <p:ext uri="{BB962C8B-B14F-4D97-AF65-F5344CB8AC3E}">
        <p14:creationId xmlns:p14="http://schemas.microsoft.com/office/powerpoint/2010/main" val="266352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2"/>
    </mc:Choice>
    <mc:Fallback xmlns="">
      <p:transition spd="slow" advTm="7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9363818" cy="948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总体框架顶层类图如下：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E2DDADA5-4675-1500-59EB-8B8628B6C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43" y="2000814"/>
            <a:ext cx="8757154" cy="419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6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6"/>
    </mc:Choice>
    <mc:Fallback xmlns="">
      <p:transition spd="slow" advTm="20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10139425" cy="300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假定我们开发一个项目，现有一款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USB HIK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相机，原始图像为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格式，帧率为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32FPS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，具体业务功能为：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图像最终转码成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YUV420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（满分辨率），通过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TCP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端口发送出去，并且统计帧率。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YUV420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进而编码成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JPEG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图像，帧率为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25FPS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，通过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TCP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端口发送出去。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、统计相机原始帧率，分别统计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TCP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端口发送的帧率，每秒写到日志中。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相关数据链路为：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8" name="图片 7" descr="图示&#10;&#10;描述已自动生成">
            <a:extLst>
              <a:ext uri="{FF2B5EF4-FFF2-40B4-BE49-F238E27FC236}">
                <a16:creationId xmlns:a16="http://schemas.microsoft.com/office/drawing/2014/main" id="{CB0D9114-731B-EDB9-9A1A-67559EF4E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106" y="3044672"/>
            <a:ext cx="5686733" cy="354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6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9110725" cy="36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相关的类图：</a:t>
            </a:r>
          </a:p>
        </p:txBody>
      </p:sp>
      <p:pic>
        <p:nvPicPr>
          <p:cNvPr id="3" name="图片 2" descr="图形用户界面, 应用程序&#10;&#10;描述已自动生成">
            <a:extLst>
              <a:ext uri="{FF2B5EF4-FFF2-40B4-BE49-F238E27FC236}">
                <a16:creationId xmlns:a16="http://schemas.microsoft.com/office/drawing/2014/main" id="{F4942F90-941C-5129-1F17-2E2BBC0A4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" y="2006387"/>
            <a:ext cx="11016342" cy="400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3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563968" cy="65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StartStream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时，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代码初始化时序图：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7" name="图片 6" descr="日程表&#10;&#10;中度可信度描述已自动生成">
            <a:extLst>
              <a:ext uri="{FF2B5EF4-FFF2-40B4-BE49-F238E27FC236}">
                <a16:creationId xmlns:a16="http://schemas.microsoft.com/office/drawing/2014/main" id="{5CEE094E-5FCF-D807-52E9-9985662D5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651" y="1495053"/>
            <a:ext cx="6805220" cy="47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1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9049147" cy="5051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假设链路：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visual_stream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--&gt; bayer2yuv_stream--&gt;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--&gt;other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StartStream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时，代码初始化流程如下：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StreamControl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StartStream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();</a:t>
            </a: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引用计数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+1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；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如果首次运行，则注册前端流数据回调接口，可通过回调接口获得前端流输出数据；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执行前端流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StartStream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前端流是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bayer2yuv_stream;</a:t>
            </a: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StreamControl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StartStream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();</a:t>
            </a:r>
          </a:p>
          <a:p>
            <a:pPr marL="1714500" lvl="3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引用计数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+1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；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1714500" lvl="3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如果首次运行，则注册前端流数据回调接口，可通过回调接口获得前端流输出数据；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1714500" lvl="3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前端流执行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StartStream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bayer2yuv_stream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前端流是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visual_stream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;</a:t>
            </a:r>
          </a:p>
          <a:p>
            <a:pPr marL="2171700" lvl="4" indent="-342900">
              <a:lnSpc>
                <a:spcPct val="130000"/>
              </a:lnSpc>
              <a:buFont typeface="+mj-lt"/>
              <a:buAutoNum type="alphaLcParenR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visual_stream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引用计数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+1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；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171700" lvl="4" indent="-342900">
              <a:lnSpc>
                <a:spcPct val="130000"/>
              </a:lnSpc>
              <a:buFont typeface="+mj-lt"/>
              <a:buAutoNum type="alphaLcParenR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初始化相机，开启相机采集，此时刻，相机才会输出图像给后端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171700" lvl="4" indent="-342900">
              <a:lnSpc>
                <a:spcPct val="130000"/>
              </a:lnSpc>
              <a:buFont typeface="+mj-lt"/>
              <a:buAutoNum type="alphaLcParenR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初始化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stream_para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;</a:t>
            </a:r>
          </a:p>
          <a:p>
            <a:pPr marL="1714500" lvl="3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将前端流的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stream_para_para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部分参数初始化给当前流的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stream</a:t>
            </a: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bayer2yuv_stream::Initialization1();</a:t>
            </a: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将前端流的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stream_para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部分参数初始化给当前流的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stream_para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；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::Initialization();</a:t>
            </a:r>
          </a:p>
        </p:txBody>
      </p:sp>
    </p:spTree>
    <p:extLst>
      <p:ext uri="{BB962C8B-B14F-4D97-AF65-F5344CB8AC3E}">
        <p14:creationId xmlns:p14="http://schemas.microsoft.com/office/powerpoint/2010/main" val="137032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5562600" cy="300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链路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visual_stream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--&gt; bayer2yuv_stream--&gt;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--&gt;other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数据流走向如图：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、相机采集、图像处理和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Jpeg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编码功能相对独立，比如相机采集把数据回调给后端流，后端流只是拷贝数据到队列，就返回给相机采集，前后不消耗各自的处理性能。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、这里只是一条链路，工程应用中链路是多个，意味着比如相机采集，回调提供相机数据的后端流可能不止一个。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、注意，整个数据处理和回调数据没有锁机制，在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类框架数据流走向上不存在性能瓶颈。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D5E189A3-7FDA-220E-6AD1-FBD0E381A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090" y="1177290"/>
            <a:ext cx="556260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4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5075544" cy="65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StopStream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时，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执行时序图如下：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7B6364E5-3192-BD51-D788-761F73DB1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509" y="1794713"/>
            <a:ext cx="75152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5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743582" cy="38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假设链路：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visual_stream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--&gt; bayer2yuv_stream--&gt;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--&gt;other</a:t>
            </a: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StopStream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时，代码初始化流程如下：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StreamControl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StopStream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();</a:t>
            </a:r>
          </a:p>
          <a:p>
            <a:pPr marL="800100" lvl="1" indent="-342900">
              <a:lnSpc>
                <a:spcPct val="130000"/>
              </a:lnSpc>
              <a:buFont typeface="+mj-lt"/>
              <a:buAutoNum type="alphaLcParenR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引用计数减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</a:p>
          <a:p>
            <a:pPr marL="800100" lvl="1" indent="-342900">
              <a:lnSpc>
                <a:spcPct val="130000"/>
              </a:lnSpc>
              <a:buFont typeface="+mj-lt"/>
              <a:buAutoNum type="alphaLcParenR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执行前端流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StopStream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前端流是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bayer2yuv_stream;</a:t>
            </a: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StreamControl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StopStream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();</a:t>
            </a:r>
          </a:p>
          <a:p>
            <a:pPr marL="1714500" lvl="3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引用计数减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</a:p>
          <a:p>
            <a:pPr marL="1714500" lvl="3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执行前端流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StopStream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bayer2yuv_stream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前端流是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visual_stream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;</a:t>
            </a:r>
          </a:p>
          <a:p>
            <a:pPr marL="2171700" lvl="4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visual_stream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引用计数减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</a:p>
          <a:p>
            <a:pPr marL="2171700" lvl="4" indent="-342900">
              <a:lnSpc>
                <a:spcPct val="130000"/>
              </a:lnSpc>
              <a:buFont typeface="+mj-lt"/>
              <a:buAutoNum type="arabicPeriod"/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如果引用计数为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0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，则关闭相机，释放资源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的引用计数如果为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0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，则关闭流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jpeg_stream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的引用计数如果为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0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，则关闭流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3938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500014" cy="300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框架性能瓶颈在哪？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框架库可根据工程应用动态生成适配项目要求的多个数据链路，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、当链路过多，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占用也很大。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、单个链路要求性能很高，已超出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承载的能力。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以上无论哪种情况都会使模块功能性能下降，致使整个业务线帧率降低。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框架库由很多功能模块，而功能模块依赖于其他兄弟库，详看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库软件依赖。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342900" indent="-342900" algn="l">
              <a:lnSpc>
                <a:spcPct val="130000"/>
              </a:lnSpc>
              <a:buFont typeface="+mj-lt"/>
              <a:buAutoNum type="alphaLcParenR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Ly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兄弟库也会越来越多，需要不断的改进和完善，突破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的限制。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342900" indent="-342900" algn="l">
              <a:lnSpc>
                <a:spcPct val="130000"/>
              </a:lnSpc>
              <a:buFont typeface="+mj-lt"/>
              <a:buAutoNum type="alphaLcParenR"/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框架库也是不断的适配和扩展，以求能够合理联动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芯片的算力资源。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809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添加标题内容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5075544" cy="6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您的内容打在这里，或者通过复制您的文本后，在此框中选择粘贴，并选择只保留文字。您的内容打在这里</a:t>
            </a:r>
          </a:p>
        </p:txBody>
      </p:sp>
    </p:spTree>
    <p:extLst>
      <p:ext uri="{BB962C8B-B14F-4D97-AF65-F5344CB8AC3E}">
        <p14:creationId xmlns:p14="http://schemas.microsoft.com/office/powerpoint/2010/main" val="215005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03/ II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类框架设计</a:t>
            </a:r>
          </a:p>
        </p:txBody>
      </p:sp>
    </p:spTree>
    <p:extLst>
      <p:ext uri="{BB962C8B-B14F-4D97-AF65-F5344CB8AC3E}">
        <p14:creationId xmlns:p14="http://schemas.microsoft.com/office/powerpoint/2010/main" val="2210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II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10261889" cy="417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类框架是单个功能组件因自身功能特性而独有设计的框架，组件间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类框架不全相同。这里以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为例，描述怎么实现以及图像处理算子。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流核心功能是：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、适配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种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算力的零拷贝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、图像处理流程固定，具体图像处理算子由外部提供，类似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”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插件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”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形式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、支持多线程，增大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利用率，图像处理算子也可内部实现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cuda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流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::Initialization() 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相关流程如下：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、根据图像处理算子个数，分配同等数量的线程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、每个线程分配一帧锁页内存，和一组内存池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、前端流通过回调给的数据会放进内存池内，图像处理中，会把内存池的图像取出来给到锁页内存，锁页内存可直接用于图像处理算子。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634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671464" cy="65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相关类图：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A0BB9132-B5A7-156C-3A8C-F97B82C56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933575"/>
            <a:ext cx="10439400" cy="35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0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</a:rPr>
              <a:t>II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9625075" cy="65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假设增加了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个图像处理算子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Bayer2YUV420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，那么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相关的数据流时序图如下：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10" name="图片 9" descr="表格&#10;&#10;中度可信度描述已自动生成">
            <a:extLst>
              <a:ext uri="{FF2B5EF4-FFF2-40B4-BE49-F238E27FC236}">
                <a16:creationId xmlns:a16="http://schemas.microsoft.com/office/drawing/2014/main" id="{5B9A2DB3-DA13-D86B-8BEA-ABCAF790F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30" y="1980694"/>
            <a:ext cx="8956901" cy="423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4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II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类框架设计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9208696" cy="1827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流的性能表现完全依赖于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lynppi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库，意味着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流后续的设计是取决于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lynppi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库而来的。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Lynppi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库目前以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cuda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npp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库为核心，结合零拷贝技术设计出来，但是后面如果跑复杂图像算法，还需要与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软件库结合，联动图像视觉加速器，加速和分担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压力。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本次以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ImageStream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为例，说明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类框架在继承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类框架基础上，以依赖功能库为设计核心。</a:t>
            </a:r>
          </a:p>
        </p:txBody>
      </p:sp>
    </p:spTree>
    <p:extLst>
      <p:ext uri="{BB962C8B-B14F-4D97-AF65-F5344CB8AC3E}">
        <p14:creationId xmlns:p14="http://schemas.microsoft.com/office/powerpoint/2010/main" val="73691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04/ 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工程应用范例</a:t>
            </a:r>
          </a:p>
        </p:txBody>
      </p:sp>
    </p:spTree>
    <p:extLst>
      <p:ext uri="{BB962C8B-B14F-4D97-AF65-F5344CB8AC3E}">
        <p14:creationId xmlns:p14="http://schemas.microsoft.com/office/powerpoint/2010/main" val="321071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工程应用范例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874210" cy="65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这里以弓网一体化可见光业务逻辑为例：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7574D8F3-7DF4-D519-A0BF-8485B54E0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234" y="1134268"/>
            <a:ext cx="7886161" cy="515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6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工程应用范例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271414" cy="65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弓网一体化数据链路：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CC4E9F6D-E28E-F4AA-5BA1-BD53186A8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01" y="2006800"/>
            <a:ext cx="10503597" cy="359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7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56389" b="37509"/>
          <a:stretch>
            <a:fillRect/>
          </a:stretch>
        </p:blipFill>
        <p:spPr>
          <a:xfrm>
            <a:off x="1270" y="3518535"/>
            <a:ext cx="12190730" cy="4184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00725" y="3518535"/>
            <a:ext cx="269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安全｜科技｜便捷｜高效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00725" y="3518535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同心同行</a:t>
            </a:r>
            <a:r>
              <a:rPr lang="en-US" altLang="zh-CN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共创共享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2121</TotalTime>
  <Words>2344</Words>
  <Application>Microsoft Office PowerPoint</Application>
  <PresentationFormat>宽屏</PresentationFormat>
  <Paragraphs>241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等线</vt:lpstr>
      <vt:lpstr>等线 Light</vt:lpstr>
      <vt:lpstr>微软雅黑</vt:lpstr>
      <vt:lpstr>幼圆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姚建伟</cp:lastModifiedBy>
  <cp:revision>36</cp:revision>
  <dcterms:created xsi:type="dcterms:W3CDTF">2023-05-05T02:42:15Z</dcterms:created>
  <dcterms:modified xsi:type="dcterms:W3CDTF">2025-12-17T05:03:30Z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F1D21D52F592B9DC076D54648196AE83_43</vt:lpwstr>
  </property>
  <property fmtid="{D5CDD505-2E9C-101B-9397-08002B2CF9AE}" pid="3" name="KSOProductBuildVer">
    <vt:lpwstr>2052-5.4.0.7913</vt:lpwstr>
  </property>
</Properties>
</file>